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81" r:id="rId21"/>
    <p:sldId id="283" r:id="rId22"/>
    <p:sldId id="285" r:id="rId2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9o80781kImZO5tUtf8pv2mpak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26F1A4-28D4-45CE-A2DE-405FA54C65B5}">
  <a:tblStyle styleId="{E126F1A4-28D4-45CE-A2DE-405FA54C65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4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961120" y="-1463040"/>
            <a:ext cx="4937760" cy="493776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E8A33D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64008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6400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2A05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3A2A05"/>
                </a:solidFill>
                <a:latin typeface="Calibri"/>
                <a:ea typeface="Calibri"/>
                <a:cs typeface="Calibri"/>
                <a:sym typeface="Calibri"/>
              </a:rPr>
              <a:t> DEMO SESSION 1 · MILESTONE 1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286000"/>
            <a:ext cx="8805672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Definition &amp; Dataset Understanding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4480560"/>
            <a:ext cx="8805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CED7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7CED7"/>
                </a:solidFill>
                <a:latin typeface="Calibri"/>
                <a:ea typeface="Calibri"/>
                <a:cs typeface="Calibri"/>
                <a:sym typeface="Calibri"/>
              </a:rPr>
              <a:t>Present your project problem and prove you understand your dataset — before you build anything further.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1 · MILESTONE BASICS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What Is a Project Milestone?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1463040"/>
            <a:ext cx="11094415" cy="1581912"/>
          </a:xfrm>
          <a:prstGeom prst="roundRect">
            <a:avLst>
              <a:gd name="adj" fmla="val 3468"/>
            </a:avLst>
          </a:prstGeom>
          <a:solidFill>
            <a:srgbClr val="ED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22960" y="1700784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22960" y="1700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444752" y="1737360"/>
            <a:ext cx="992398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2960" y="2331720"/>
            <a:ext cx="10545775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838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milestone is a graded checkpoint where you present your project's progress and get feedback before moving forward.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336499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This is the first of four milestones you will defend before your final presentation.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1 · MILESTONE BASICS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Why Milestones Matter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146304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ED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77240" y="17145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7240" y="1714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280160" y="1463040"/>
            <a:ext cx="10088575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b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50" b="0" i="1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Milestones catch problems early, while they are still cheap to fix.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26517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94944" y="2752344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94944" y="2752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234440" y="2651760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weak dataset or unclear problem is easier to fix now than after weeks of work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332841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94944" y="34290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94944" y="3429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234440" y="3328416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Applying each skill to a real project builds practice that a textbook exercise cannot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48640" y="4005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40050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94944" y="410565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94944" y="4105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234440" y="4005072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Presenting your progress out loud builds the same skill you will need at the final presentation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1 · MILESTONE BASICS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What Happens in a Demo Session?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146304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ED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77240" y="17145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77240" y="1714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280160" y="1463040"/>
            <a:ext cx="10088575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b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50" b="0" i="1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Each team presents briefly, then receives feedback on the spot.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26517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94944" y="2752344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94944" y="2752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234440" y="2651760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Your team presents your problem and dataset in a short, focused slot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332841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94944" y="34290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94944" y="3429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234440" y="3328416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The instructor and your peers give feedback live, right after you present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48640" y="4005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40050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94944" y="410565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94944" y="4105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234440" y="4005072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You are not graded on a finished model today — you are graded on clarity and readiness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Your Proposal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188720" y="1572768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project proposal describing what you plan to build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8640" y="2542032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188720" y="2542032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The business problem your project responds to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3511296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76656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76656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188720" y="3511296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Your project objectives — what success looks like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Your Dataset Understanding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88720" y="1572768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Your dataset selection and where it comes from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48640" y="2542032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88720" y="2542032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description of the features in your dataset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3511296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76656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76656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188720" y="3511296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Your target variable — what you are trying to predict or explain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Your Technical Submission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188720" y="1572768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Initial dataset loading using Python, shown and working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2542032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188720" y="2542032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GitHub repository with your proposal and code pushed to it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Why a GitHub Repository?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48640" y="1463040"/>
            <a:ext cx="11094415" cy="1581912"/>
          </a:xfrm>
          <a:prstGeom prst="roundRect">
            <a:avLst>
              <a:gd name="adj" fmla="val 3468"/>
            </a:avLst>
          </a:prstGeom>
          <a:solidFill>
            <a:srgbClr val="ED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822960" y="1700784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22960" y="1700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444752" y="1737360"/>
            <a:ext cx="992398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22960" y="2331720"/>
            <a:ext cx="10545775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838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GitHub repository is where your project's code and history live, so your instructor and teammates can see your actual work.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8640" y="336499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From this milestone forward, work that isn't pushed to GitHub can't be reviewed as submitted.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Example: Loading Your Initial Dataset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48640" y="1463040"/>
            <a:ext cx="11094415" cy="2103120"/>
          </a:xfrm>
          <a:prstGeom prst="roundRect">
            <a:avLst>
              <a:gd name="adj" fmla="val 2174"/>
            </a:avLst>
          </a:prstGeom>
          <a:solidFill>
            <a:srgbClr val="1E1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749808" y="164592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969264" y="164592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188720" y="164592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1463040" y="1581912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FA3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8B8FA3"/>
                </a:solidFill>
                <a:latin typeface="Courier New"/>
                <a:ea typeface="Courier New"/>
                <a:cs typeface="Courier New"/>
                <a:sym typeface="Courier New"/>
              </a:rPr>
              <a:t>load_project_data.py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868680" y="1965960"/>
            <a:ext cx="1045433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4D4E0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pd.read_csv("project_data.csv")</a:t>
            </a: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print(df.head())</a:t>
            </a: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print(df.shape)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48640" y="3767328"/>
            <a:ext cx="11094415" cy="1554480"/>
          </a:xfrm>
          <a:prstGeom prst="roundRect">
            <a:avLst>
              <a:gd name="adj" fmla="val 2941"/>
            </a:avLst>
          </a:prstGeom>
          <a:solidFill>
            <a:srgbClr val="1E1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49808" y="395020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69264" y="395020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188720" y="395020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463040" y="388620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FA3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8B8FA3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68680" y="4270248"/>
            <a:ext cx="1045433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age  income  target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34   52000   1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29   41000   0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(812, 3)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48640" y="5614416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This is the minimum technical proof expected today — your dataset opens cleanly in Python.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2 · WHAT YOU 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Example: Describing Your Features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48640" y="1463040"/>
            <a:ext cx="11094415" cy="1517904"/>
          </a:xfrm>
          <a:prstGeom prst="roundRect">
            <a:avLst>
              <a:gd name="adj" fmla="val 3012"/>
            </a:avLst>
          </a:prstGeom>
          <a:solidFill>
            <a:srgbClr val="1E1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749808" y="164592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969264" y="164592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188720" y="164592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1463040" y="1581912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FA3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8B8FA3"/>
                </a:solidFill>
                <a:latin typeface="Courier New"/>
                <a:ea typeface="Courier New"/>
                <a:cs typeface="Courier New"/>
                <a:sym typeface="Courier New"/>
              </a:rPr>
              <a:t>load_project_data.py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68680" y="1965960"/>
            <a:ext cx="10454335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4D4E0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print(df.info())</a:t>
            </a: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print(df.describe())</a:t>
            </a:r>
            <a:b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i="0" u="none" strike="noStrike" cap="none">
                <a:solidFill>
                  <a:srgbClr val="D4D4E0"/>
                </a:solidFill>
                <a:latin typeface="Courier New"/>
                <a:ea typeface="Courier New"/>
                <a:cs typeface="Courier New"/>
                <a:sym typeface="Courier New"/>
              </a:rPr>
              <a:t>print(df.isnull().sum())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548640" y="3182112"/>
            <a:ext cx="11094415" cy="1554480"/>
          </a:xfrm>
          <a:prstGeom prst="roundRect">
            <a:avLst>
              <a:gd name="adj" fmla="val 2941"/>
            </a:avLst>
          </a:prstGeom>
          <a:solidFill>
            <a:srgbClr val="1E1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969264" y="3364992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1188720" y="3364992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1463040" y="3300984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8FA3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8B8FA3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68680" y="3685032"/>
            <a:ext cx="1045433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age       int64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income    int64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target    int64</a:t>
            </a:r>
            <a:b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0" i="0" u="none" strike="noStrike" cap="non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age: 0, income: 3, target: 0    # missing values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50"/>
              <a:buFont typeface="Calibri"/>
              <a:buNone/>
            </a:pPr>
            <a:r>
              <a:rPr lang="en-US" sz="155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These three lines show your column types, basic statistics, and how much data is missing.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3 · CHOOSING A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What Makes a Dataset Milestone-Ready?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48640" y="146304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ED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777240" y="17145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777240" y="1714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280160" y="1463040"/>
            <a:ext cx="10088575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br>
              <a:rPr lang="en-US" sz="12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50" b="0" i="1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milestone-ready dataset is documented, sized right, and has a clear target.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48640" y="26517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94944" y="2752344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694944" y="2752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234440" y="2651760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Somewhere between 5 and 15 features — enough to be interesting, not overwhelming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48640" y="332841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694944" y="34290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94944" y="3429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234440" y="3328416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clear target variable that your project will predict or explain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548640" y="4005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48640" y="40050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94944" y="4105656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694944" y="4105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234440" y="4005072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documented, known source, so you can explain where your data came from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3 · CHOOSING A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Good Dataset vs Risky Dataset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15"/>
          <p:cNvGraphicFramePr/>
          <p:nvPr/>
        </p:nvGraphicFramePr>
        <p:xfrm>
          <a:off x="548640" y="1572768"/>
          <a:ext cx="11094425" cy="2834625"/>
        </p:xfrm>
        <a:graphic>
          <a:graphicData uri="http://schemas.openxmlformats.org/drawingml/2006/table">
            <a:tbl>
              <a:tblPr>
                <a:noFill/>
                <a:tableStyleId>{E126F1A4-28D4-45CE-A2DE-405FA54C65B5}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Looks Like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count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Good: 5–15 features. Risky: 2 features (too thin) or 200 features (too ambitious)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variable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Good: one clear column to predict. Risky: no obvious target, or several competing ones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Good: Kaggle, UCI, or a known public repository. Risky: an unnamed spreadsheet with no origin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Documentation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Good: column meanings are explained. Risky: cryptic column names with no description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1" name="Google Shape;341;p15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3 · CHOOSING A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Where to Find a Dataset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16"/>
          <p:cNvGraphicFramePr/>
          <p:nvPr/>
        </p:nvGraphicFramePr>
        <p:xfrm>
          <a:off x="548640" y="1572768"/>
          <a:ext cx="11094425" cy="2834625"/>
        </p:xfrm>
        <a:graphic>
          <a:graphicData uri="http://schemas.openxmlformats.org/drawingml/2006/table">
            <a:tbl>
              <a:tblPr>
                <a:noFill/>
                <a:tableStyleId>{E126F1A4-28D4-45CE-A2DE-405FA54C65B5}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Kaggle Datasets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huge range of beginner-friendly, well-documented datasets across topics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UCI Machine Learning Repository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Classic, clean datasets that are often used for learning core ML concepts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data.gov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Public, real-world datasets from government sources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Dataset Search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search engine for finding datasets scattered across the web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1" name="Google Shape;351;p16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3 · CHOOSING A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Sample Proposal Outline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1188720" y="1572768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Title &amp; team members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548640" y="2542032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188720" y="2542032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Business problem, in one or two sentences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548640" y="3511296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676656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676656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1188720" y="3511296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Project objectives — what success looks like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548640" y="4480560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676656" y="4681728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676656" y="46817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188720" y="4480560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Dataset source, size, and target variable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INSTRUCTOR TIP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A Note From Your Instructor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548640" y="1828800"/>
            <a:ext cx="11094415" cy="3200400"/>
          </a:xfrm>
          <a:prstGeom prst="roundRect">
            <a:avLst>
              <a:gd name="adj" fmla="val 114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1005840" y="22860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5500"/>
              <a:buFont typeface="Calibri"/>
              <a:buNone/>
            </a:pPr>
            <a:r>
              <a:rPr lang="en-US" sz="5500" b="0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5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2377440" y="2468880"/>
            <a:ext cx="8899855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550"/>
              <a:buFont typeface="Cambria"/>
              <a:buNone/>
            </a:pPr>
            <a:r>
              <a:rPr lang="en-US" sz="255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Steer yourself away from overly ambitious or poorly-documented datasets now.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2377440" y="3611880"/>
            <a:ext cx="88998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A weak foundation here compounds at every later milestone — a smaller, well-understood dataset beats a big, messy one.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4 · HOW YOU'RE EVALUATED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What Feedback Focuses 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1188720" y="1572768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Is the problem suitable? Does it fit a real business or research question?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548640" y="2542032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9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1188720" y="2542032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Is the dataset appropriate? Does it actually support the problem you defined?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548640" y="3511296"/>
            <a:ext cx="11094415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676656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9"/>
          <p:cNvSpPr/>
          <p:nvPr/>
        </p:nvSpPr>
        <p:spPr>
          <a:xfrm>
            <a:off x="676656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1188720" y="3511296"/>
            <a:ext cx="10271455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Is the scope realistic? Can this be finished within the course timeline?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4 · HOW YOU'RE EVALUATED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Milestone 1 Rubric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" name="Google Shape;419;p20"/>
          <p:cNvGraphicFramePr/>
          <p:nvPr/>
        </p:nvGraphicFramePr>
        <p:xfrm>
          <a:off x="548640" y="1572768"/>
          <a:ext cx="11094425" cy="3401550"/>
        </p:xfrm>
        <a:graphic>
          <a:graphicData uri="http://schemas.openxmlformats.org/drawingml/2006/table">
            <a:tbl>
              <a:tblPr>
                <a:noFill/>
                <a:tableStyleId>{E126F1A4-28D4-45CE-A2DE-405FA54C65B5}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Criteria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Look For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clear business problem with a specific, answerable question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fit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dataset actually contains what is needed to answer the problem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Realistic for the timeline — not too ambitious, not too thin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proof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dataset loads cleanly in Python, shown live or in your repo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proposal and presentation are clear enough for a teammate to follow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0" name="Google Shape;420;p20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JUST IN CASE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Common Milestone 1 Mistakes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" name="Google Shape;429;p21"/>
          <p:cNvGraphicFramePr/>
          <p:nvPr/>
        </p:nvGraphicFramePr>
        <p:xfrm>
          <a:off x="548640" y="1572768"/>
          <a:ext cx="11094425" cy="2834625"/>
        </p:xfrm>
        <a:graphic>
          <a:graphicData uri="http://schemas.openxmlformats.org/drawingml/2006/table">
            <a:tbl>
              <a:tblPr>
                <a:noFill/>
                <a:tableStyleId>{E126F1A4-28D4-45CE-A2DE-405FA54C65B5}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Mistake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Happens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 many features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100-column dataset is hard to clean and explain in the time available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clear target variable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Without a target, it's unclear what your project is actually predicting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Unrealistic scope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Promising a finished production system by Session 25 sets up a stressful course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GitHub repository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that isn't pushed to GitHub can't be reviewed or counted as submitted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" name="Google Shape;430;p21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PART 5 · DEMO DAY FLOW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Good Presentation Habits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23"/>
          <p:cNvGraphicFramePr/>
          <p:nvPr/>
        </p:nvGraphicFramePr>
        <p:xfrm>
          <a:off x="548640" y="1572768"/>
          <a:ext cx="11094425" cy="2834625"/>
        </p:xfrm>
        <a:graphic>
          <a:graphicData uri="http://schemas.openxmlformats.org/drawingml/2006/table">
            <a:tbl>
              <a:tblPr>
                <a:noFill/>
                <a:tableStyleId>{E126F1A4-28D4-45CE-A2DE-405FA54C65B5}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Habit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Helps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with the problem, not the code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audience needs the 'why' before any technical detail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 the dataset on screen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quick df.head() is more convincing than describing it in words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your target variable out loud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is the single fact reviewers listen for first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2323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with what you're unsure about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6E"/>
                        </a:buClr>
                        <a:buSzPts val="1450"/>
                        <a:buFont typeface="Calibri"/>
                        <a:buNone/>
                      </a:pPr>
                      <a:r>
                        <a:rPr lang="en-US" sz="1450" u="none" strike="noStrike" cap="none">
                          <a:solidFill>
                            <a:srgbClr val="6E6E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Naming your own open questions gets you sharper feedback</a:t>
                      </a:r>
                      <a:endParaRPr sz="14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25" marR="109725" marT="73150" marB="73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5" name="Google Shape;465;p23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6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Before You Present…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548640" y="1828800"/>
            <a:ext cx="11094415" cy="3200400"/>
          </a:xfrm>
          <a:prstGeom prst="roundRect">
            <a:avLst>
              <a:gd name="adj" fmla="val 1143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6"/>
          <p:cNvSpPr/>
          <p:nvPr/>
        </p:nvSpPr>
        <p:spPr>
          <a:xfrm>
            <a:off x="1005840" y="22860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5500"/>
              <a:buFont typeface="Calibri"/>
              <a:buNone/>
            </a:pPr>
            <a:r>
              <a:rPr lang="en-US" sz="5500" b="0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sz="5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2377440" y="2468880"/>
            <a:ext cx="8899855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550"/>
              <a:buFont typeface="Cambria"/>
              <a:buNone/>
            </a:pPr>
            <a:r>
              <a:rPr lang="en-US" sz="255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Look at your own dataset — can you point to one clear target variable?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2377440" y="3611880"/>
            <a:ext cx="88998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If you can't answer that in one sentence, that is exactly what today's feedback is for.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8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What a Strong Milestone 1 Looks Like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548640" y="1572768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676656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8"/>
          <p:cNvSpPr/>
          <p:nvPr/>
        </p:nvSpPr>
        <p:spPr>
          <a:xfrm>
            <a:off x="676656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1188720" y="1572768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well-scoped, specific business problem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6177686" y="1572768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8"/>
          <p:cNvSpPr/>
          <p:nvPr/>
        </p:nvSpPr>
        <p:spPr>
          <a:xfrm>
            <a:off x="6305702" y="1773936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6305702" y="17739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6817766" y="1572768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documented dataset with 5–15 features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548640" y="2542032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8"/>
          <p:cNvSpPr/>
          <p:nvPr/>
        </p:nvSpPr>
        <p:spPr>
          <a:xfrm>
            <a:off x="676656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676656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1188720" y="2542032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One clear target variable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6177686" y="2542032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6305702" y="2743200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8"/>
          <p:cNvSpPr/>
          <p:nvPr/>
        </p:nvSpPr>
        <p:spPr>
          <a:xfrm>
            <a:off x="6305702" y="2743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6817766" y="2542032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dataset that loads cleanly in Python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548640" y="3511296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676656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676656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1188720" y="3511296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Work pushed to a GitHub repository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6177686" y="3511296"/>
            <a:ext cx="5464454" cy="804672"/>
          </a:xfrm>
          <a:prstGeom prst="roundRect">
            <a:avLst>
              <a:gd name="adj" fmla="val 11364"/>
            </a:avLst>
          </a:prstGeom>
          <a:solidFill>
            <a:srgbClr val="F5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6305702" y="3712464"/>
            <a:ext cx="402336" cy="40233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6305702" y="3712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6817766" y="3511296"/>
            <a:ext cx="464149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89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 team that can explain all of the above out loud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Cambria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lang="en-US"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548640" y="6476695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9265615" y="647669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· Demo Session 1 · Milestone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Microsoft Office PowerPoint</Application>
  <PresentationFormat>Widescreen</PresentationFormat>
  <Paragraphs>261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muhammed musaad</cp:lastModifiedBy>
  <cp:revision>1</cp:revision>
  <dcterms:created xsi:type="dcterms:W3CDTF">2026-08-09T05:55:57Z</dcterms:created>
  <dcterms:modified xsi:type="dcterms:W3CDTF">2026-09-21T20:18:32Z</dcterms:modified>
</cp:coreProperties>
</file>